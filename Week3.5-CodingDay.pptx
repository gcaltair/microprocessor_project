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813" r:id="rId2"/>
    <p:sldId id="840" r:id="rId3"/>
    <p:sldId id="830" r:id="rId4"/>
    <p:sldId id="832" r:id="rId5"/>
    <p:sldId id="833" r:id="rId6"/>
    <p:sldId id="835" r:id="rId7"/>
    <p:sldId id="836" r:id="rId8"/>
    <p:sldId id="834" r:id="rId9"/>
    <p:sldId id="837" r:id="rId10"/>
    <p:sldId id="838" r:id="rId11"/>
    <p:sldId id="839" r:id="rId12"/>
    <p:sldId id="8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DABC20-6C1E-720F-0243-BDFE4FF0ECC9}" name="Matthew Tang" initials="MT" userId="S::eew801@qmul.ac.uk::c76e3cd7-970b-4f12-a0e9-22758cf0c9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95"/>
    <a:srgbClr val="39A9DC"/>
    <a:srgbClr val="4AACC7"/>
    <a:srgbClr val="CCECFF"/>
    <a:srgbClr val="85A446"/>
    <a:srgbClr val="FF00FF"/>
    <a:srgbClr val="3375CD"/>
    <a:srgbClr val="D30079"/>
    <a:srgbClr val="FDF2C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/>
    <p:restoredTop sz="86433"/>
  </p:normalViewPr>
  <p:slideViewPr>
    <p:cSldViewPr snapToGrid="0">
      <p:cViewPr varScale="1">
        <p:scale>
          <a:sx n="134" d="100"/>
          <a:sy n="134" d="100"/>
        </p:scale>
        <p:origin x="94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3740A-DFA5-D148-84D3-C50C88F2946B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11BC9-CBA0-5B47-ACBF-DF5F9331A6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622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720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1C1E-9A9D-5781-B36B-230BB63E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495C9-4205-6493-EA72-CC34A4002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A0BDD-D650-2C55-AAB4-DAEC86914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A993D-CD9F-5C80-3B8E-E52CB57E5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97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4A09-6368-F11D-FCF4-04658163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EF189-B305-D4EF-51F5-254967100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B8EA1-6AF9-5679-574F-E160F41CA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B6FB4-BEF9-16C0-0889-3933E059E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443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D499-9698-DEDB-61BD-D9505E72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F9D1D-1552-0BD7-C131-330A40D21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49C12-3662-B349-54AC-7BF077C08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76A79-DD76-3F8C-E272-65B423AA8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11BC9-CBA0-5B47-ACBF-DF5F9331A6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72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DDF7-18E6-21B2-3418-5F6AB56B0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9D9B7-7DA2-7195-5388-D50777D08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210B-9468-8829-0257-E5A008F3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860AF-AEC5-F7D2-3D2A-C4F7055B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BFB8-8A22-AE29-45A1-79CB9985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5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DDF7-18E6-21B2-3418-5F6AB56B0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671184"/>
            <a:ext cx="9829800" cy="203828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9A9DC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9D9B7-7DA2-7195-5388-D50777D08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4762035"/>
            <a:ext cx="9829800" cy="987382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210B-9468-8829-0257-E5A008F3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860AF-AEC5-F7D2-3D2A-C4F7055B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BFB8-8A22-AE29-45A1-79CB9985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7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3861-49D8-3D46-C8A4-9DB2114A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6121-1734-807E-6798-F4E1DD4D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BB76-9474-CBAC-97B5-17BB0724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FAA4-FEF9-32AD-0111-88AE571F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CD0A-2EF2-130E-2513-22A293B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610EAB-3504-10E9-5A96-8375C9CD785C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096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3861-49D8-3D46-C8A4-9DB2114A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945"/>
            <a:ext cx="10515600" cy="705392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F0095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6121-1734-807E-6798-F4E1DD4D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BB76-9474-CBAC-97B5-17BB0724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FAA4-FEF9-32AD-0111-88AE571F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CD0A-2EF2-130E-2513-22A293B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610EAB-3504-10E9-5A96-8375C9CD785C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0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3861-49D8-3D46-C8A4-9DB2114A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BB76-9474-CBAC-97B5-17BB0724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FAA4-FEF9-32AD-0111-88AE571F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CD0A-2EF2-130E-2513-22A293B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610EAB-3504-10E9-5A96-8375C9CD785C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862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3861-49D8-3D46-C8A4-9DB2114A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26"/>
            <a:ext cx="10515600" cy="705392"/>
          </a:xfrm>
        </p:spPr>
        <p:txBody>
          <a:bodyPr>
            <a:normAutofit/>
          </a:bodyPr>
          <a:lstStyle>
            <a:lvl1pPr algn="r">
              <a:defRPr sz="2400">
                <a:solidFill>
                  <a:srgbClr val="FF0095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6121-1734-807E-6798-F4E1DD4D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BB76-9474-CBAC-97B5-17BB0724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FAA4-FEF9-32AD-0111-88AE571F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CD0A-2EF2-130E-2513-22A293B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D610EAB-3504-10E9-5A96-8375C9CD785C}"/>
              </a:ext>
            </a:extLst>
          </p:cNvPr>
          <p:cNvSpPr/>
          <p:nvPr userDrawn="1"/>
        </p:nvSpPr>
        <p:spPr>
          <a:xfrm>
            <a:off x="11497335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34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B8AF-125F-F9EF-E3F8-2E1A250A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709942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4DDB-E4F5-66D8-92D8-3830F7B63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0971"/>
            <a:ext cx="5181600" cy="511537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4F126-19DC-5100-00E0-0C8134918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40971"/>
            <a:ext cx="5181600" cy="5115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97505-F605-AFD8-992B-CD42D836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8B1C2-9102-C17B-D442-3113F3F1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7A2B0-97BB-2DDA-76DD-3355943A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E9C6CAC-7DB3-120E-8DD2-29803EE6A454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58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B8AF-125F-F9EF-E3F8-2E1A250AB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709942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4DDB-E4F5-66D8-92D8-3830F7B63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40971"/>
            <a:ext cx="5181600" cy="511537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97505-F605-AFD8-992B-CD42D836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8B1C2-9102-C17B-D442-3113F3F1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7A2B0-97BB-2DDA-76DD-3355943A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E9C6CAC-7DB3-120E-8DD2-29803EE6A454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59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E02B-B123-C078-9A10-94C12C2E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BB517-3C42-02E2-8EAF-00E05A1C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0419"/>
            <a:ext cx="10514012" cy="679904"/>
          </a:xfrm>
        </p:spPr>
        <p:txBody>
          <a:bodyPr anchor="t">
            <a:normAutofit/>
          </a:bodyPr>
          <a:lstStyle>
            <a:lvl1pPr marL="269875" indent="-269875">
              <a:buFont typeface="Arial" panose="020B0604020202020204" pitchFamily="34" charset="0"/>
              <a:buChar char="•"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D12BE-06B6-D137-C374-4436A408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95714"/>
            <a:ext cx="5157787" cy="419395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9227E-8EBB-B49A-4A0A-3707B02D1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95713"/>
            <a:ext cx="5183188" cy="419395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C0941-0456-A760-7B31-C92989FF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399F2-19A9-2D73-2BD1-70A7757F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E0DEE-2BAE-8F99-40B3-4E7D7CBB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9FE548A7-D312-4736-E7CF-47702BA3EA8F}"/>
              </a:ext>
            </a:extLst>
          </p:cNvPr>
          <p:cNvSpPr/>
          <p:nvPr userDrawn="1"/>
        </p:nvSpPr>
        <p:spPr>
          <a:xfrm>
            <a:off x="-5173" y="651804"/>
            <a:ext cx="701040" cy="198120"/>
          </a:xfrm>
          <a:custGeom>
            <a:avLst/>
            <a:gdLst/>
            <a:ahLst/>
            <a:cxnLst/>
            <a:rect l="l" t="t" r="r" b="b"/>
            <a:pathLst>
              <a:path w="701040" h="198119">
                <a:moveTo>
                  <a:pt x="0" y="198120"/>
                </a:moveTo>
                <a:lnTo>
                  <a:pt x="701039" y="198120"/>
                </a:lnTo>
                <a:lnTo>
                  <a:pt x="701039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solidFill>
            <a:srgbClr val="FF00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424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3861-49D8-3D46-C8A4-9DB2114A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36121-1734-807E-6798-F4E1DD4D8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FBB76-9474-CBAC-97B5-17BB0724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FAA4-FEF9-32AD-0111-88AE571F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CD0A-2EF2-130E-2513-22A293B4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62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4915-3D09-7ACE-FB22-789251503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8A3E6-8576-2F52-E86A-146E8F8C4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536BB-165E-B9F1-D2DC-828754E1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EC35D-A9A3-E6B1-0756-0C45BF0B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C187-09E3-A039-4A60-CCDA47DD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281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B8AF-125F-F9EF-E3F8-2E1A250A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B4DDB-E4F5-66D8-92D8-3830F7B63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4F126-19DC-5100-00E0-0C8134918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97505-F605-AFD8-992B-CD42D836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8B1C2-9102-C17B-D442-3113F3F1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7A2B0-97BB-2DDA-76DD-3355943A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125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E02B-B123-C078-9A10-94C12C2E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BB517-3C42-02E2-8EAF-00E05A1C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D12BE-06B6-D137-C374-4436A408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F879A-C2F2-C168-ADBB-7A65241E21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9227E-8EBB-B49A-4A0A-3707B02D1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C0941-0456-A760-7B31-C92989FF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399F2-19A9-2D73-2BD1-70A7757FA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E0DEE-2BAE-8F99-40B3-4E7D7CBB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64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683C-5773-031F-6381-2536350F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349B1-481D-C0B4-3CFD-81B0B363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64F0F-43A7-5A29-281E-6E5223BF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5E520-8FDF-DFAD-297E-1305170E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724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8317C-6FF2-AFA9-7D32-CFFEB5CC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9DEB2-86DF-865B-6D05-7CC0ED80F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48016-446C-BA5D-1504-B032AC8A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74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A45A-22F5-38AF-7AB5-2C2A8767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15C59-04E1-10DF-9DB6-43BBEB859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7E11E-D5F2-3EA4-0CED-EB0795855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99678-D429-004C-1D5C-84AE4A9E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618E6-652C-94A8-5907-8FF04892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F87D4-4613-7AD1-F0D1-5C7FBECD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252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94F8-BFF0-5660-35FE-92B2F564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7A933-188F-E538-51EC-A9F2AB82E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1DE87-5575-715F-597F-A511B0EA3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8A8E4-4A19-3FD9-FC8E-199B28EA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06629-7EC2-06BC-3CEA-2315C950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9B663-B04D-18D8-1D52-A78AFA86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591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3C70-4C01-8E76-9215-24B9ECD7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6EFAE-6DFD-7346-7780-4C9951B15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6298A-364F-C208-494E-8EF22A1D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CFA0B-8142-9A54-E38E-C4A84CCA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BEDF9-3013-1D22-4C09-1BDB1A7F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458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7B887-27C9-BBC9-7901-3376C30A6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7DEBA2-5D7E-64BB-1A51-0F4B2B5DE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16636-F395-9CA2-FBEE-AF2DE91E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2D74-5C17-62B9-4BB0-D3B4F48A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CDBFA-1916-B51D-B6DC-459DAE29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22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0079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F5B06E-F6A0-3B43-AD64-568F71E241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3DAA08-2A8E-BC49-A908-D83D95CBF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499" y="1207042"/>
            <a:ext cx="6192840" cy="2574186"/>
          </a:xfrm>
        </p:spPr>
        <p:txBody>
          <a:bodyPr anchor="t" anchorCtr="0"/>
          <a:lstStyle>
            <a:lvl1pPr algn="r">
              <a:lnSpc>
                <a:spcPct val="85000"/>
              </a:lnSpc>
              <a:defRPr sz="5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Page Title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8585A9-CBDE-FB4B-A656-FBBD0B0CA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8" y="3973626"/>
            <a:ext cx="6192840" cy="702444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11" name="Picture 10" descr="A picture containing building, drawing&#10;&#10;Description automatically generated">
            <a:extLst>
              <a:ext uri="{FF2B5EF4-FFF2-40B4-BE49-F238E27FC236}">
                <a16:creationId xmlns:a16="http://schemas.microsoft.com/office/drawing/2014/main" id="{F366692D-059F-E843-B530-FFE3E2135C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311" y="1167639"/>
            <a:ext cx="1700213" cy="530640"/>
          </a:xfrm>
          <a:prstGeom prst="rect">
            <a:avLst/>
          </a:prstGeom>
        </p:spPr>
      </p:pic>
      <p:sp>
        <p:nvSpPr>
          <p:cNvPr id="9" name="TextBox 20">
            <a:extLst>
              <a:ext uri="{FF2B5EF4-FFF2-40B4-BE49-F238E27FC236}">
                <a16:creationId xmlns:a16="http://schemas.microsoft.com/office/drawing/2014/main" id="{84D08BDA-0B34-A84B-B3A0-9DE0D5EB96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82662" y="6413179"/>
            <a:ext cx="4636741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1000" dirty="0">
                <a:solidFill>
                  <a:schemeClr val="bg2"/>
                </a:solidFill>
              </a:rPr>
              <a:t>© 2021 Arm</a:t>
            </a:r>
            <a:endParaRPr lang="en-US" alt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63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E21C1-2632-BAA4-AD97-CABD19E0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965EF-9846-D814-C5AB-8FF72F6CD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87E36-890E-C956-917A-ADDFB70AC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DC7CE-E8B7-6A4E-A85C-B07D37EEA5EF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975AE-2CCC-4789-0A24-4EB8D36A5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5C7DB-9788-C859-D741-5F6493A37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30815-B2FA-E442-B0C8-DEF336CD75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27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7" r:id="rId3"/>
    <p:sldLayoutId id="2147483674" r:id="rId4"/>
    <p:sldLayoutId id="2147483673" r:id="rId5"/>
    <p:sldLayoutId id="2147483672" r:id="rId6"/>
    <p:sldLayoutId id="2147483671" r:id="rId7"/>
    <p:sldLayoutId id="2147483676" r:id="rId8"/>
    <p:sldLayoutId id="2147483653" r:id="rId9"/>
    <p:sldLayoutId id="2147483668" r:id="rId10"/>
    <p:sldLayoutId id="2147483651" r:id="rId11"/>
    <p:sldLayoutId id="2147483670" r:id="rId12"/>
    <p:sldLayoutId id="2147483675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  <p:sldLayoutId id="2147483666" r:id="rId20"/>
    <p:sldLayoutId id="2147483677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9A9D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39A9DC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1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9A9DC"/>
        </a:buClr>
        <a:buFont typeface="Arial" panose="020B0604020202020204" pitchFamily="34" charset="0"/>
        <a:buChar char="•"/>
        <a:defRPr sz="11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4881-1330-2ACA-EB8A-D514C0B2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6ACB-F8CA-237F-866E-51014F6D2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Week 3: Coding Day</a:t>
            </a:r>
            <a:endParaRPr lang="en-GB" sz="3600" noProof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A7F6212-59B1-2711-9F68-34B6D514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68562"/>
            <a:ext cx="9144000" cy="389238"/>
          </a:xfrm>
        </p:spPr>
        <p:txBody>
          <a:bodyPr/>
          <a:lstStyle/>
          <a:p>
            <a:r>
              <a:rPr lang="en-GB" dirty="0">
                <a:solidFill>
                  <a:srgbClr val="FF0095"/>
                </a:solidFill>
              </a:rPr>
              <a:t>“Teamworking and Collaborative Learning”</a:t>
            </a:r>
          </a:p>
        </p:txBody>
      </p:sp>
    </p:spTree>
    <p:extLst>
      <p:ext uri="{BB962C8B-B14F-4D97-AF65-F5344CB8AC3E}">
        <p14:creationId xmlns:p14="http://schemas.microsoft.com/office/powerpoint/2010/main" val="265121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55D5-D213-5370-33F7-F843F1F7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6162-E569-9349-D67E-C3970A1ED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7C88-C64F-ADC8-7736-FD3B12A5A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Student must complete the </a:t>
            </a:r>
            <a:r>
              <a:rPr lang="en-GB" dirty="0">
                <a:solidFill>
                  <a:srgbClr val="FF0095"/>
                </a:solidFill>
              </a:rPr>
              <a:t>Week 3 Coding Day Challenges </a:t>
            </a:r>
            <a:r>
              <a:rPr lang="en-GB" dirty="0"/>
              <a:t>on </a:t>
            </a:r>
            <a:r>
              <a:rPr lang="en-GB" dirty="0">
                <a:solidFill>
                  <a:srgbClr val="FF0095"/>
                </a:solidFill>
              </a:rPr>
              <a:t>USART and I2C </a:t>
            </a:r>
            <a:r>
              <a:rPr lang="en-GB" dirty="0"/>
              <a:t>for exam revision and the AMR project development.</a:t>
            </a:r>
          </a:p>
          <a:p>
            <a:r>
              <a:rPr lang="en-GB" dirty="0"/>
              <a:t>Develop STM32F446 code to acquire real-time data from the </a:t>
            </a:r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</a:t>
            </a:r>
            <a:r>
              <a:rPr lang="en-GB" dirty="0"/>
              <a:t>and </a:t>
            </a:r>
            <a:r>
              <a:rPr lang="en-GB" dirty="0">
                <a:solidFill>
                  <a:srgbClr val="FF0095"/>
                </a:solidFill>
              </a:rPr>
              <a:t>MPU6500</a:t>
            </a:r>
            <a:r>
              <a:rPr lang="en-GB" dirty="0"/>
              <a:t> using </a:t>
            </a:r>
            <a:r>
              <a:rPr lang="en-GB" dirty="0">
                <a:solidFill>
                  <a:srgbClr val="FF0095"/>
                </a:solidFill>
              </a:rPr>
              <a:t>interrupts, DMA, and relevant peripheral register configuration</a:t>
            </a:r>
            <a:r>
              <a:rPr lang="en-GB" dirty="0"/>
              <a:t>. </a:t>
            </a:r>
          </a:p>
          <a:p>
            <a:r>
              <a:rPr lang="en-GB" dirty="0"/>
              <a:t>Use </a:t>
            </a:r>
            <a:r>
              <a:rPr lang="en-GB" dirty="0" err="1">
                <a:solidFill>
                  <a:srgbClr val="FF0095"/>
                </a:solidFill>
              </a:rPr>
              <a:t>PulseView</a:t>
            </a:r>
            <a:r>
              <a:rPr lang="en-GB" dirty="0"/>
              <a:t> to analyse the sensor </a:t>
            </a:r>
            <a:r>
              <a:rPr lang="en-GB" dirty="0">
                <a:solidFill>
                  <a:srgbClr val="FF0095"/>
                </a:solidFill>
              </a:rPr>
              <a:t>signals and protocols</a:t>
            </a:r>
            <a:r>
              <a:rPr lang="en-GB" dirty="0"/>
              <a:t>, and </a:t>
            </a:r>
            <a:r>
              <a:rPr lang="en-GB" dirty="0">
                <a:solidFill>
                  <a:srgbClr val="FF0095"/>
                </a:solidFill>
              </a:rPr>
              <a:t>convert</a:t>
            </a:r>
            <a:r>
              <a:rPr lang="en-GB" dirty="0"/>
              <a:t> captured data into </a:t>
            </a:r>
            <a:r>
              <a:rPr lang="en-GB" dirty="0">
                <a:solidFill>
                  <a:srgbClr val="FF0095"/>
                </a:solidFill>
              </a:rPr>
              <a:t>meaningful physical values</a:t>
            </a:r>
            <a:r>
              <a:rPr lang="en-GB" dirty="0"/>
              <a:t>. 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95"/>
                </a:solidFill>
              </a:rPr>
              <a:t>minimum required analysis </a:t>
            </a:r>
            <a:r>
              <a:rPr lang="en-GB" dirty="0"/>
              <a:t>is the revision for </a:t>
            </a:r>
            <a:r>
              <a:rPr lang="en-GB" dirty="0">
                <a:solidFill>
                  <a:srgbClr val="FF0095"/>
                </a:solidFill>
              </a:rPr>
              <a:t>final closed-book examination </a:t>
            </a:r>
            <a:r>
              <a:rPr lang="en-GB" dirty="0" err="1"/>
              <a:t>reviewion</a:t>
            </a:r>
            <a:r>
              <a:rPr lang="en-GB" dirty="0"/>
              <a:t>, namely </a:t>
            </a:r>
            <a:r>
              <a:rPr lang="en-GB" dirty="0" err="1"/>
              <a:t>RPLidar</a:t>
            </a:r>
            <a:r>
              <a:rPr lang="en-GB" dirty="0"/>
              <a:t> C1 SCAN mode and MPU6500 gyroscope transactions. </a:t>
            </a:r>
          </a:p>
          <a:p>
            <a:r>
              <a:rPr lang="en-GB" dirty="0"/>
              <a:t>Additional extension work should include </a:t>
            </a:r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Express mode </a:t>
            </a:r>
            <a:r>
              <a:rPr lang="en-GB" dirty="0"/>
              <a:t>and the </a:t>
            </a:r>
            <a:r>
              <a:rPr lang="en-GB" dirty="0">
                <a:solidFill>
                  <a:srgbClr val="FF0095"/>
                </a:solidFill>
              </a:rPr>
              <a:t>MPU6500</a:t>
            </a:r>
            <a:r>
              <a:rPr lang="en-GB" dirty="0"/>
              <a:t> accelerometer are required for the AMR project development.</a:t>
            </a:r>
          </a:p>
          <a:p>
            <a:r>
              <a:rPr lang="en-GB" dirty="0"/>
              <a:t>Submit an </a:t>
            </a:r>
            <a:r>
              <a:rPr lang="en-GB" dirty="0">
                <a:solidFill>
                  <a:srgbClr val="FF0095"/>
                </a:solidFill>
              </a:rPr>
              <a:t>analysis report </a:t>
            </a:r>
            <a:r>
              <a:rPr lang="en-GB" dirty="0"/>
              <a:t>and demonstrate the working system to the </a:t>
            </a:r>
            <a:r>
              <a:rPr lang="en-GB" dirty="0">
                <a:solidFill>
                  <a:srgbClr val="FF0095"/>
                </a:solidFill>
              </a:rPr>
              <a:t>TA</a:t>
            </a:r>
            <a:r>
              <a:rPr lang="en-GB" dirty="0"/>
              <a:t>.  The </a:t>
            </a:r>
            <a:r>
              <a:rPr lang="en-GB" dirty="0">
                <a:solidFill>
                  <a:srgbClr val="FF0095"/>
                </a:solidFill>
              </a:rPr>
              <a:t>Coding Day mark </a:t>
            </a:r>
            <a:r>
              <a:rPr lang="en-GB" dirty="0"/>
              <a:t>will be awarded </a:t>
            </a:r>
            <a:r>
              <a:rPr lang="en-GB" dirty="0">
                <a:solidFill>
                  <a:srgbClr val="FF0095"/>
                </a:solidFill>
              </a:rPr>
              <a:t>individually</a:t>
            </a:r>
            <a:r>
              <a:rPr lang="en-GB" dirty="0"/>
              <a:t> through questioning based on the report, the protocol analysis, and the live demonstration.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1F298-1708-002E-C3D7-536811DF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9" y="5267325"/>
            <a:ext cx="1590675" cy="1590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B62DE8-6821-580A-4445-08658F54329C}"/>
              </a:ext>
            </a:extLst>
          </p:cNvPr>
          <p:cNvSpPr txBox="1"/>
          <p:nvPr/>
        </p:nvSpPr>
        <p:spPr>
          <a:xfrm>
            <a:off x="8614097" y="5847218"/>
            <a:ext cx="13823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100" b="1" dirty="0">
                <a:solidFill>
                  <a:srgbClr val="FF00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 report using this QR code</a:t>
            </a:r>
          </a:p>
        </p:txBody>
      </p:sp>
    </p:spTree>
    <p:extLst>
      <p:ext uri="{BB962C8B-B14F-4D97-AF65-F5344CB8AC3E}">
        <p14:creationId xmlns:p14="http://schemas.microsoft.com/office/powerpoint/2010/main" val="173216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69C5-3362-A8F1-0B99-33A4B232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Task 1: STM32F446 Real-Time Sensor Interfacing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3052-208D-F2B9-EC61-44ACF89E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Develop an integrated STM32F446 code to acquire data from:</a:t>
            </a:r>
          </a:p>
          <a:p>
            <a:pPr lvl="1"/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</a:t>
            </a:r>
            <a:r>
              <a:rPr lang="en-GB" dirty="0"/>
              <a:t>using </a:t>
            </a:r>
            <a:r>
              <a:rPr lang="en-GB" dirty="0">
                <a:solidFill>
                  <a:srgbClr val="FF0095"/>
                </a:solidFill>
              </a:rPr>
              <a:t>USART</a:t>
            </a:r>
            <a:r>
              <a:rPr lang="en-GB" dirty="0"/>
              <a:t> </a:t>
            </a:r>
          </a:p>
          <a:p>
            <a:pPr lvl="1"/>
            <a:r>
              <a:rPr lang="en-GB" dirty="0">
                <a:solidFill>
                  <a:srgbClr val="FF0095"/>
                </a:solidFill>
              </a:rPr>
              <a:t>MPU6500</a:t>
            </a:r>
            <a:r>
              <a:rPr lang="en-GB" dirty="0"/>
              <a:t> using </a:t>
            </a:r>
            <a:r>
              <a:rPr lang="en-GB" dirty="0">
                <a:solidFill>
                  <a:srgbClr val="FF0095"/>
                </a:solidFill>
              </a:rPr>
              <a:t>I2C</a:t>
            </a:r>
            <a:r>
              <a:rPr lang="en-GB" dirty="0"/>
              <a:t> </a:t>
            </a:r>
          </a:p>
          <a:p>
            <a:r>
              <a:rPr lang="en-GB" dirty="0"/>
              <a:t>Your implementation must use a </a:t>
            </a:r>
            <a:r>
              <a:rPr lang="en-GB" dirty="0">
                <a:solidFill>
                  <a:srgbClr val="FF0095"/>
                </a:solidFill>
              </a:rPr>
              <a:t>real-time interrupt and DMA approach</a:t>
            </a:r>
            <a:r>
              <a:rPr lang="en-GB" dirty="0"/>
              <a:t>, not simple polling. This includes configuring the relevant peripheral registers as appropriate, such as:</a:t>
            </a:r>
          </a:p>
          <a:p>
            <a:pPr lvl="1"/>
            <a:r>
              <a:rPr lang="en-GB" dirty="0"/>
              <a:t>USART configuration registers for baud rate and communication setup </a:t>
            </a:r>
          </a:p>
          <a:p>
            <a:pPr lvl="1"/>
            <a:r>
              <a:rPr lang="en-GB" dirty="0"/>
              <a:t>I2C configuration registers for master communication </a:t>
            </a:r>
          </a:p>
          <a:p>
            <a:pPr lvl="1"/>
            <a:r>
              <a:rPr lang="en-GB" dirty="0"/>
              <a:t>DMA stream/channel configuration </a:t>
            </a:r>
          </a:p>
          <a:p>
            <a:pPr lvl="1"/>
            <a:r>
              <a:rPr lang="en-GB" dirty="0"/>
              <a:t>interrupt enable and NVIC configuration </a:t>
            </a:r>
          </a:p>
          <a:p>
            <a:r>
              <a:rPr lang="en-GB" dirty="0"/>
              <a:t>Your code should demonstrate that the microcontroller can continuously receive or transfer sensor data reliably in real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89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4EB7-7C89-88E4-F94B-489D4E6A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EB9D3A-A10B-304E-0A29-A7C3813F6716}"/>
              </a:ext>
            </a:extLst>
          </p:cNvPr>
          <p:cNvSpPr/>
          <p:nvPr/>
        </p:nvSpPr>
        <p:spPr>
          <a:xfrm>
            <a:off x="228600" y="3638551"/>
            <a:ext cx="11687175" cy="31813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6DEA-2FE9-2E47-AC0B-669CC417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2: Protocol Analysis Using </a:t>
            </a:r>
            <a:r>
              <a:rPr lang="en-GB" dirty="0" err="1"/>
              <a:t>PulseView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9742D-45AF-FB86-18A9-7F6B6EF8B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</a:t>
            </a:r>
            <a:r>
              <a:rPr lang="en-GB" b="1" dirty="0" err="1">
                <a:solidFill>
                  <a:srgbClr val="FF0095"/>
                </a:solidFill>
              </a:rPr>
              <a:t>PulseView</a:t>
            </a:r>
            <a:r>
              <a:rPr lang="en-GB" b="1" dirty="0">
                <a:solidFill>
                  <a:srgbClr val="FF0095"/>
                </a:solidFill>
              </a:rPr>
              <a:t> logic analyser </a:t>
            </a:r>
            <a:r>
              <a:rPr lang="en-GB" dirty="0"/>
              <a:t>to capture and analyse the signalling and protocol communication of both </a:t>
            </a:r>
            <a:r>
              <a:rPr lang="en-GB" dirty="0" err="1"/>
              <a:t>RPLidar</a:t>
            </a:r>
            <a:r>
              <a:rPr lang="en-GB" dirty="0"/>
              <a:t> C1 and MPU6500 sensors. </a:t>
            </a:r>
          </a:p>
          <a:p>
            <a:r>
              <a:rPr lang="en-GB" dirty="0"/>
              <a:t>Your analysis must include the </a:t>
            </a:r>
            <a:r>
              <a:rPr lang="en-GB" b="1" dirty="0">
                <a:solidFill>
                  <a:srgbClr val="FF0095"/>
                </a:solidFill>
              </a:rPr>
              <a:t>minimum required parts </a:t>
            </a:r>
            <a:r>
              <a:rPr lang="en-GB" dirty="0"/>
              <a:t>listed in the following sub-sections of </a:t>
            </a:r>
            <a:r>
              <a:rPr lang="en-GB" dirty="0" err="1"/>
              <a:t>RPLidar</a:t>
            </a:r>
            <a:r>
              <a:rPr lang="en-GB" dirty="0"/>
              <a:t> C1 and MPU6500, which are based directly on the knowledge required for </a:t>
            </a:r>
            <a:r>
              <a:rPr lang="en-GB" b="1" dirty="0">
                <a:solidFill>
                  <a:srgbClr val="FF0095"/>
                </a:solidFill>
              </a:rPr>
              <a:t>final closed-book examination</a:t>
            </a:r>
            <a:r>
              <a:rPr lang="en-GB" dirty="0"/>
              <a:t>, together with additional extension analyses towards the project development.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02064-940C-363A-FE0C-4B83B3ED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825" y="3920892"/>
            <a:ext cx="5508952" cy="2790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FBE51C-3CE1-5BDC-B3B1-8F4B76BAE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833131"/>
            <a:ext cx="5375397" cy="2647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280A1D-E63F-BAD8-1316-995B12E1F939}"/>
              </a:ext>
            </a:extLst>
          </p:cNvPr>
          <p:cNvSpPr txBox="1"/>
          <p:nvPr/>
        </p:nvSpPr>
        <p:spPr>
          <a:xfrm>
            <a:off x="228600" y="3378434"/>
            <a:ext cx="276870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dirty="0" err="1">
                <a:latin typeface="Arial" panose="020B0604020202020204" pitchFamily="34" charset="0"/>
                <a:cs typeface="Arial" panose="020B0604020202020204" pitchFamily="34" charset="0"/>
              </a:rPr>
              <a:t>Pulseview</a:t>
            </a:r>
            <a:r>
              <a:rPr lang="en-GB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50" dirty="0" err="1">
                <a:latin typeface="Arial" panose="020B0604020202020204" pitchFamily="34" charset="0"/>
                <a:cs typeface="Arial" panose="020B0604020202020204" pitchFamily="34" charset="0"/>
              </a:rPr>
              <a:t>Signaling</a:t>
            </a:r>
            <a:r>
              <a:rPr lang="en-GB" sz="1050" dirty="0">
                <a:latin typeface="Arial" panose="020B0604020202020204" pitchFamily="34" charset="0"/>
                <a:cs typeface="Arial" panose="020B0604020202020204" pitchFamily="34" charset="0"/>
              </a:rPr>
              <a:t> and Protocol Analyses</a:t>
            </a:r>
          </a:p>
        </p:txBody>
      </p:sp>
    </p:spTree>
    <p:extLst>
      <p:ext uri="{BB962C8B-B14F-4D97-AF65-F5344CB8AC3E}">
        <p14:creationId xmlns:p14="http://schemas.microsoft.com/office/powerpoint/2010/main" val="59354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7E4C-CBAF-E716-6C57-6237D084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BF89-9020-B243-9DE6-338D641C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2.1: </a:t>
            </a:r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2C8EB-2B50-1D9E-5D42-8E0C34D40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0419"/>
            <a:ext cx="10514012" cy="679904"/>
          </a:xfrm>
        </p:spPr>
        <p:txBody>
          <a:bodyPr/>
          <a:lstStyle/>
          <a:p>
            <a:r>
              <a:rPr lang="en-GB" dirty="0"/>
              <a:t>Capture and analyse the UART communication between the STM32F446 and the </a:t>
            </a:r>
            <a:r>
              <a:rPr lang="en-GB" dirty="0" err="1"/>
              <a:t>RPLidar</a:t>
            </a:r>
            <a:r>
              <a:rPr lang="en-GB" dirty="0"/>
              <a:t> C1.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8B86-6463-5DB2-CBAC-5B94DFB8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95714"/>
            <a:ext cx="5157787" cy="41939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Minimum required analysis</a:t>
            </a:r>
          </a:p>
          <a:p>
            <a:pPr lvl="1"/>
            <a:r>
              <a:rPr lang="en-GB" dirty="0"/>
              <a:t>Configure the USART communication settings used for the sensor</a:t>
            </a:r>
          </a:p>
          <a:p>
            <a:pPr lvl="1"/>
            <a:r>
              <a:rPr lang="en-GB" dirty="0"/>
              <a:t>Identify the response descriptor in SCAN mode</a:t>
            </a:r>
          </a:p>
          <a:p>
            <a:pPr lvl="1"/>
            <a:r>
              <a:rPr lang="en-GB" dirty="0"/>
              <a:t>Identify the start of each measurement sample </a:t>
            </a:r>
          </a:p>
          <a:p>
            <a:pPr lvl="1"/>
            <a:r>
              <a:rPr lang="en-GB" dirty="0"/>
              <a:t>Explain how the start bits work in the SCAN-mode packet format </a:t>
            </a:r>
          </a:p>
          <a:p>
            <a:pPr lvl="1"/>
            <a:r>
              <a:rPr lang="en-GB" dirty="0"/>
              <a:t>Decode at least one measurement sample </a:t>
            </a:r>
          </a:p>
          <a:p>
            <a:pPr lvl="1"/>
            <a:r>
              <a:rPr lang="en-GB" dirty="0"/>
              <a:t>Determine and explain: </a:t>
            </a:r>
          </a:p>
          <a:p>
            <a:pPr lvl="2"/>
            <a:r>
              <a:rPr lang="en-GB" dirty="0"/>
              <a:t>whether the sample is valid </a:t>
            </a:r>
          </a:p>
          <a:p>
            <a:pPr lvl="2"/>
            <a:r>
              <a:rPr lang="en-GB" dirty="0"/>
              <a:t>the quality value </a:t>
            </a:r>
          </a:p>
          <a:p>
            <a:pPr lvl="2"/>
            <a:r>
              <a:rPr lang="en-GB" dirty="0"/>
              <a:t>the angle in degrees </a:t>
            </a:r>
          </a:p>
          <a:p>
            <a:pPr lvl="2"/>
            <a:r>
              <a:rPr lang="en-GB" dirty="0"/>
              <a:t>the distance in mm</a:t>
            </a:r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6D975-3DE0-685A-DB76-36B82728D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95713"/>
            <a:ext cx="5183188" cy="4193951"/>
          </a:xfrm>
        </p:spPr>
        <p:txBody>
          <a:bodyPr/>
          <a:lstStyle/>
          <a:p>
            <a:r>
              <a:rPr lang="en-GB" dirty="0"/>
              <a:t>Additional extension analysis</a:t>
            </a:r>
          </a:p>
          <a:p>
            <a:pPr lvl="1"/>
            <a:r>
              <a:rPr lang="en-GB" dirty="0"/>
              <a:t>Express mode packet structure and behaviour; </a:t>
            </a:r>
          </a:p>
          <a:p>
            <a:pPr lvl="1"/>
            <a:r>
              <a:rPr lang="en-GB" dirty="0"/>
              <a:t>How Express mode differs from normal SCAN mode </a:t>
            </a:r>
          </a:p>
          <a:p>
            <a:pPr lvl="1"/>
            <a:r>
              <a:rPr lang="en-GB" dirty="0"/>
              <a:t>How the captured bytes would be interpreted in Express mode</a:t>
            </a:r>
          </a:p>
        </p:txBody>
      </p:sp>
    </p:spTree>
    <p:extLst>
      <p:ext uri="{BB962C8B-B14F-4D97-AF65-F5344CB8AC3E}">
        <p14:creationId xmlns:p14="http://schemas.microsoft.com/office/powerpoint/2010/main" val="220590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B517-978E-87E6-74B0-930AE0FE0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50EA-1EF8-33C9-3B85-FABEE86B6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2.1: </a:t>
            </a:r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C2C1BB-D12C-6F72-F949-241F34D9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2" t="11332" r="4897"/>
          <a:stretch>
            <a:fillRect/>
          </a:stretch>
        </p:blipFill>
        <p:spPr>
          <a:xfrm>
            <a:off x="229210" y="1558363"/>
            <a:ext cx="3782003" cy="315604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9D9B7E7-5E20-ED88-F915-A6E46CE0E07F}"/>
              </a:ext>
            </a:extLst>
          </p:cNvPr>
          <p:cNvGrpSpPr/>
          <p:nvPr/>
        </p:nvGrpSpPr>
        <p:grpSpPr>
          <a:xfrm>
            <a:off x="4385793" y="3804802"/>
            <a:ext cx="3445400" cy="2605731"/>
            <a:chOff x="5617048" y="1431925"/>
            <a:chExt cx="4608224" cy="372566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D186F6-AA30-5240-36EA-227259935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83" r="48421" b="92620"/>
            <a:stretch>
              <a:fillRect/>
            </a:stretch>
          </p:blipFill>
          <p:spPr>
            <a:xfrm>
              <a:off x="5617048" y="1431925"/>
              <a:ext cx="3388407" cy="28603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56A31A-F365-15FF-D774-A3698479B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842" t="12188" r="20868"/>
            <a:stretch>
              <a:fillRect/>
            </a:stretch>
          </p:blipFill>
          <p:spPr>
            <a:xfrm>
              <a:off x="5617048" y="1754282"/>
              <a:ext cx="4608224" cy="3403311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D0781948-7C1C-99DE-C694-F98E1521A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715" y="1558363"/>
            <a:ext cx="3349120" cy="1976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0D6A2B-5402-7AE0-32B3-B3EA4788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542" y="1558363"/>
            <a:ext cx="4092852" cy="347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4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78C5-A2A7-3C42-786F-ECC7727AB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D91A-D7B2-526D-3347-6D29B84A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2.1: </a:t>
            </a:r>
            <a:r>
              <a:rPr lang="en-GB" dirty="0" err="1">
                <a:solidFill>
                  <a:srgbClr val="FF0095"/>
                </a:solidFill>
              </a:rPr>
              <a:t>RPLidar</a:t>
            </a:r>
            <a:r>
              <a:rPr lang="en-GB" dirty="0">
                <a:solidFill>
                  <a:srgbClr val="FF0095"/>
                </a:solidFill>
              </a:rPr>
              <a:t> C1 Analysis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0401BF-5AB8-C51D-5C9D-4792CBDC202E}"/>
              </a:ext>
            </a:extLst>
          </p:cNvPr>
          <p:cNvGrpSpPr>
            <a:grpSpLocks noChangeAspect="1"/>
          </p:cNvGrpSpPr>
          <p:nvPr/>
        </p:nvGrpSpPr>
        <p:grpSpPr>
          <a:xfrm>
            <a:off x="258338" y="1703908"/>
            <a:ext cx="3669258" cy="3715585"/>
            <a:chOff x="436757" y="1713459"/>
            <a:chExt cx="7772400" cy="78705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7C603B-41DC-5E2E-896D-E7896FB94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757" y="1713459"/>
              <a:ext cx="7772400" cy="133465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04AE944-CC47-846D-14A4-BFA66F516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757" y="2978013"/>
              <a:ext cx="7772400" cy="660597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2DFA4E9-AE05-895E-410F-5E089C5FD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042" y="3310149"/>
            <a:ext cx="3652995" cy="3313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181344-1FC4-2EF8-487A-DDAB39EA0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042" y="1202542"/>
            <a:ext cx="3590300" cy="1922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2805DE-20D6-2ED6-A5DB-BA1CC0CF1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528" y="1703908"/>
            <a:ext cx="4272510" cy="29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2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FB2DF-3F05-064D-56FF-028991CE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3B6B-47E6-5D63-101B-7D54EF56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2.2: </a:t>
            </a:r>
            <a:r>
              <a:rPr lang="en-GB" dirty="0">
                <a:solidFill>
                  <a:srgbClr val="FF0095"/>
                </a:solidFill>
              </a:rPr>
              <a:t>MPU6500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880676-E1CB-AB08-3018-4F0FA323F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0419"/>
            <a:ext cx="10514012" cy="679904"/>
          </a:xfrm>
        </p:spPr>
        <p:txBody>
          <a:bodyPr/>
          <a:lstStyle/>
          <a:p>
            <a:r>
              <a:rPr lang="en-GB" dirty="0"/>
              <a:t>Capture and analyse the I2C communication between the STM32F446 and the MPU6500.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6FDF-BAD0-1C19-17C7-6BECD829A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95488"/>
            <a:ext cx="5157787" cy="449738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Minimum required analysis</a:t>
            </a:r>
          </a:p>
          <a:p>
            <a:pPr lvl="1"/>
            <a:r>
              <a:rPr lang="en-GB" dirty="0"/>
              <a:t>Identify the device address and the meaning of the read/write address bytes </a:t>
            </a:r>
          </a:p>
          <a:p>
            <a:pPr lvl="1"/>
            <a:r>
              <a:rPr lang="en-GB" dirty="0"/>
              <a:t>Identify the register address used in the transaction </a:t>
            </a:r>
          </a:p>
          <a:p>
            <a:pPr lvl="1"/>
            <a:r>
              <a:rPr lang="en-GB" dirty="0"/>
              <a:t>Explain the I2C transaction sequence, including: </a:t>
            </a:r>
          </a:p>
          <a:p>
            <a:pPr lvl="2"/>
            <a:r>
              <a:rPr lang="en-GB" dirty="0"/>
              <a:t>START,  address + write,  register selection, repeated START, address + read, returned data bytes, ACK/NACK and STOP</a:t>
            </a:r>
          </a:p>
          <a:p>
            <a:pPr lvl="1"/>
            <a:r>
              <a:rPr lang="en-GB" dirty="0"/>
              <a:t>Reconstruct the returned gyroscope values from the captured bytes </a:t>
            </a:r>
          </a:p>
          <a:p>
            <a:pPr lvl="1"/>
            <a:r>
              <a:rPr lang="en-GB" dirty="0"/>
              <a:t>Convert the raw gyroscope readings into: </a:t>
            </a:r>
          </a:p>
          <a:p>
            <a:pPr lvl="2"/>
            <a:r>
              <a:rPr lang="en-GB" dirty="0"/>
              <a:t>16-bit hexadecimal values </a:t>
            </a:r>
          </a:p>
          <a:p>
            <a:pPr lvl="2"/>
            <a:r>
              <a:rPr lang="en-GB" dirty="0"/>
              <a:t>signed decimal values </a:t>
            </a:r>
          </a:p>
          <a:p>
            <a:pPr lvl="2"/>
            <a:r>
              <a:rPr lang="en-GB" dirty="0"/>
              <a:t>physical values in appropriate units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CC930-55F2-D2BF-BF26-067BAEB66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95713"/>
            <a:ext cx="5183188" cy="4193951"/>
          </a:xfrm>
        </p:spPr>
        <p:txBody>
          <a:bodyPr>
            <a:normAutofit/>
          </a:bodyPr>
          <a:lstStyle/>
          <a:p>
            <a:r>
              <a:rPr lang="en-GB" dirty="0"/>
              <a:t>Additional extension analysis</a:t>
            </a:r>
          </a:p>
          <a:p>
            <a:pPr lvl="1"/>
            <a:r>
              <a:rPr lang="en-GB" dirty="0"/>
              <a:t>the accelerometer registers and read sequence </a:t>
            </a:r>
          </a:p>
          <a:p>
            <a:pPr lvl="1"/>
            <a:r>
              <a:rPr lang="en-GB" dirty="0"/>
              <a:t>reconstruction of raw accelerometer output data </a:t>
            </a:r>
          </a:p>
          <a:p>
            <a:pPr lvl="1"/>
            <a:r>
              <a:rPr lang="en-GB" dirty="0"/>
              <a:t>conversion of accelerometer readings into meaningful physical values</a:t>
            </a:r>
          </a:p>
        </p:txBody>
      </p:sp>
    </p:spTree>
    <p:extLst>
      <p:ext uri="{BB962C8B-B14F-4D97-AF65-F5344CB8AC3E}">
        <p14:creationId xmlns:p14="http://schemas.microsoft.com/office/powerpoint/2010/main" val="324420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22712-BCE5-3AFC-BBA2-FBEDF3728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69744-91C1-8871-2100-CF723BF5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2.2: </a:t>
            </a:r>
            <a:r>
              <a:rPr lang="en-GB" dirty="0">
                <a:solidFill>
                  <a:srgbClr val="FF0095"/>
                </a:solidFill>
              </a:rPr>
              <a:t>MPU6500 Analysis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DB0541-989F-3526-3DA5-7985E2F56C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023"/>
          <a:stretch>
            <a:fillRect/>
          </a:stretch>
        </p:blipFill>
        <p:spPr>
          <a:xfrm>
            <a:off x="2209800" y="1480313"/>
            <a:ext cx="7772400" cy="21772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0AEF1C-F06B-25F5-2610-787B34DCA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05" y="4088602"/>
            <a:ext cx="3581547" cy="23672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1C8C3B-6C42-4353-5909-4A350C69F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421" y="4088602"/>
            <a:ext cx="3604956" cy="23672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F059E12-BA47-1F89-ED2E-8DAC0EC4F7E4}"/>
              </a:ext>
            </a:extLst>
          </p:cNvPr>
          <p:cNvGrpSpPr>
            <a:grpSpLocks noChangeAspect="1"/>
          </p:cNvGrpSpPr>
          <p:nvPr/>
        </p:nvGrpSpPr>
        <p:grpSpPr>
          <a:xfrm>
            <a:off x="8193831" y="4178323"/>
            <a:ext cx="3723929" cy="2277482"/>
            <a:chOff x="3780527" y="1921422"/>
            <a:chExt cx="7772400" cy="475344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9D6C35-CCA0-7007-438F-FF99AB916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80527" y="4951070"/>
              <a:ext cx="7772400" cy="17238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292D738-C3BC-A533-0863-0A877BAFB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80527" y="1921422"/>
              <a:ext cx="7772400" cy="30151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5668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60833-1EDE-78BA-7016-60CB648B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793F-739A-0EA1-C87D-7561A3DE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79904"/>
          </a:xfrm>
        </p:spPr>
        <p:txBody>
          <a:bodyPr/>
          <a:lstStyle/>
          <a:p>
            <a:r>
              <a:rPr lang="en-GB" dirty="0"/>
              <a:t>Task 2.2: </a:t>
            </a:r>
            <a:r>
              <a:rPr lang="en-GB" dirty="0">
                <a:solidFill>
                  <a:srgbClr val="FF0095"/>
                </a:solidFill>
              </a:rPr>
              <a:t>MPU6500 Analysis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C3C6C-20D0-924F-B540-172C2C2E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79" y="3751436"/>
            <a:ext cx="3501381" cy="2274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41C40-816C-8CCB-242C-73596017A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297" y="3751436"/>
            <a:ext cx="3774393" cy="2221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7F991-F935-DD7E-D9A5-886D05892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627" y="3751436"/>
            <a:ext cx="3774394" cy="219681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535072D-29CC-D0EB-646B-7D1C2B71F804}"/>
              </a:ext>
            </a:extLst>
          </p:cNvPr>
          <p:cNvGrpSpPr/>
          <p:nvPr/>
        </p:nvGrpSpPr>
        <p:grpSpPr>
          <a:xfrm>
            <a:off x="2206377" y="1479653"/>
            <a:ext cx="7779246" cy="1837159"/>
            <a:chOff x="473008" y="-285470"/>
            <a:chExt cx="7779246" cy="183715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11B27B9-80E1-0881-BE68-BB8064DD4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70081"/>
            <a:stretch>
              <a:fillRect/>
            </a:stretch>
          </p:blipFill>
          <p:spPr>
            <a:xfrm>
              <a:off x="473008" y="-285470"/>
              <a:ext cx="7772400" cy="80445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C45461-1E5C-691E-0B22-0283E73D9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56356"/>
            <a:stretch>
              <a:fillRect/>
            </a:stretch>
          </p:blipFill>
          <p:spPr>
            <a:xfrm>
              <a:off x="479854" y="518985"/>
              <a:ext cx="7772400" cy="10327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536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D6753-ED1C-6CD5-CCE8-F44FFAB2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FA8A-9835-B52A-365E-BA1D81B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869"/>
            <a:ext cx="10515600" cy="705392"/>
          </a:xfrm>
        </p:spPr>
        <p:txBody>
          <a:bodyPr/>
          <a:lstStyle/>
          <a:p>
            <a:r>
              <a:rPr lang="en-GB" dirty="0"/>
              <a:t>Task 3: Analysis Report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2728A-9C7C-7864-C018-034B09C9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7785"/>
            <a:ext cx="10515600" cy="5118565"/>
          </a:xfrm>
        </p:spPr>
        <p:txBody>
          <a:bodyPr/>
          <a:lstStyle/>
          <a:p>
            <a:r>
              <a:rPr lang="en-GB" dirty="0"/>
              <a:t>Prepare a short analysis report that clearly documents:</a:t>
            </a:r>
          </a:p>
          <a:p>
            <a:pPr lvl="1"/>
            <a:r>
              <a:rPr lang="en-GB" dirty="0"/>
              <a:t>Your peripheral configuration approach </a:t>
            </a:r>
          </a:p>
          <a:p>
            <a:pPr lvl="1"/>
            <a:r>
              <a:rPr lang="en-GB" dirty="0"/>
              <a:t>How interrupts and DMA are used </a:t>
            </a:r>
          </a:p>
          <a:p>
            <a:pPr lvl="1"/>
            <a:r>
              <a:rPr lang="en-GB" dirty="0" err="1"/>
              <a:t>PulseView</a:t>
            </a:r>
            <a:r>
              <a:rPr lang="en-GB" dirty="0"/>
              <a:t> captures of UART and I2C transactions </a:t>
            </a:r>
          </a:p>
          <a:p>
            <a:pPr lvl="1"/>
            <a:r>
              <a:rPr lang="en-GB" dirty="0"/>
              <a:t>Protocol interpretation for each sensor </a:t>
            </a:r>
          </a:p>
          <a:p>
            <a:pPr lvl="1"/>
            <a:r>
              <a:rPr lang="en-GB" dirty="0"/>
              <a:t>Example calculations showing how raw bytes are converted into meaningful values </a:t>
            </a:r>
          </a:p>
          <a:p>
            <a:pPr lvl="1"/>
            <a:r>
              <a:rPr lang="en-GB" dirty="0"/>
              <a:t>Brief explanation of any implementation issues, debugging steps, or limitations </a:t>
            </a:r>
          </a:p>
          <a:p>
            <a:r>
              <a:rPr lang="en-GB" dirty="0"/>
              <a:t>The report should be technical, concise, and structured clearly enough that each member can explain it confidently.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548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FBDA-B80F-A24A-D96E-B80CE488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2139-21A2-9FC8-3BCD-E8FD90003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600" noProof="0" dirty="0"/>
              <a:t>End of Week</a:t>
            </a:r>
            <a:r>
              <a:rPr lang="en-US" dirty="0"/>
              <a:t>3</a:t>
            </a:r>
            <a:endParaRPr lang="en-GB" sz="3600" noProof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AFB1244-D592-FD14-73B3-C8ED16727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59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rgbClr val="D30079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FF0095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8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13742</TotalTime>
  <Words>681</Words>
  <Application>Microsoft Macintosh PowerPoint</Application>
  <PresentationFormat>Widescreen</PresentationFormat>
  <Paragraphs>75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Week 3: Coding Day</vt:lpstr>
      <vt:lpstr>Instruction</vt:lpstr>
      <vt:lpstr>Task 1: STM32F446 Real-Time Sensor Interfacing</vt:lpstr>
      <vt:lpstr>Task 2: Protocol Analysis Using PulseView</vt:lpstr>
      <vt:lpstr>Task 2.1: RPLidar C1 Analysis</vt:lpstr>
      <vt:lpstr>Task 2.1: RPLidar C1 Analysis</vt:lpstr>
      <vt:lpstr>Task 2.1: RPLidar C1 Analysis</vt:lpstr>
      <vt:lpstr>Task 2.2: MPU6500 Analysis</vt:lpstr>
      <vt:lpstr>Task 2.2: MPU6500 Analysis</vt:lpstr>
      <vt:lpstr>Task 2.2: MPU6500 Analysis</vt:lpstr>
      <vt:lpstr>Task 3: Analysis Report</vt:lpstr>
      <vt:lpstr>End of Week3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Loo</dc:creator>
  <cp:lastModifiedBy>Jonathan Loo</cp:lastModifiedBy>
  <cp:revision>1710</cp:revision>
  <dcterms:created xsi:type="dcterms:W3CDTF">2025-01-05T12:50:01Z</dcterms:created>
  <dcterms:modified xsi:type="dcterms:W3CDTF">2026-04-07T04:01:52Z</dcterms:modified>
</cp:coreProperties>
</file>